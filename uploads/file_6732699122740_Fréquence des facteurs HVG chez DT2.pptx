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6858000" cy="12192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260" y="-10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ctrTitle"/>
          </p:nvPr>
        </p:nvSpPr>
        <p:spPr>
          <a:xfrm>
            <a:off x="1074420" y="639819"/>
            <a:ext cx="5554980" cy="2617216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2" name="Sous-titre 21"/>
          <p:cNvSpPr>
            <a:spLocks noGrp="1"/>
          </p:cNvSpPr>
          <p:nvPr>
            <p:ph type="subTitle" idx="1"/>
          </p:nvPr>
        </p:nvSpPr>
        <p:spPr>
          <a:xfrm>
            <a:off x="1074420" y="3289003"/>
            <a:ext cx="5554980" cy="3115733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691075" y="2513426"/>
            <a:ext cx="157734" cy="373888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867882" y="2391140"/>
            <a:ext cx="48006" cy="113792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12168" y="-96"/>
            <a:ext cx="5143500" cy="12192096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3794" y="4622800"/>
            <a:ext cx="4800600" cy="4064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33794" y="1896534"/>
            <a:ext cx="4800600" cy="268393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Rectangle 9"/>
          <p:cNvSpPr/>
          <p:nvPr/>
        </p:nvSpPr>
        <p:spPr bwMode="invGray">
          <a:xfrm>
            <a:off x="1714500" y="0"/>
            <a:ext cx="57150" cy="12192096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29241" y="5003833"/>
            <a:ext cx="157734" cy="373888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806048" y="4881547"/>
            <a:ext cx="48006" cy="113792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6706" y="487680"/>
            <a:ext cx="5623560" cy="2032000"/>
          </a:xfrm>
        </p:spPr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76706" y="2709333"/>
            <a:ext cx="2743200" cy="8290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957066" y="2709333"/>
            <a:ext cx="2743200" cy="829056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9173931"/>
            <a:ext cx="6172200" cy="2032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583605"/>
            <a:ext cx="3017520" cy="113792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3497580" y="583605"/>
            <a:ext cx="3017520" cy="113792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342900" y="1723264"/>
            <a:ext cx="3017520" cy="73152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97580" y="1723264"/>
            <a:ext cx="3017520" cy="73152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6706" y="487680"/>
            <a:ext cx="5623560" cy="2032000"/>
          </a:xfrm>
        </p:spPr>
        <p:txBody>
          <a:bodyPr anchor="ctr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1238" y="0"/>
            <a:ext cx="6096762" cy="12192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Rectangle 5"/>
          <p:cNvSpPr/>
          <p:nvPr/>
        </p:nvSpPr>
        <p:spPr bwMode="invGray">
          <a:xfrm>
            <a:off x="761238" y="-96"/>
            <a:ext cx="54864" cy="12192096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85383"/>
            <a:ext cx="2857500" cy="2065867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42900" y="2501269"/>
            <a:ext cx="2857500" cy="1241778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42900" y="3793067"/>
            <a:ext cx="6115050" cy="70978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15172" y="1896533"/>
            <a:ext cx="2057400" cy="3522133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71500" y="1896533"/>
            <a:ext cx="3429000" cy="8128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28650" y="2032006"/>
            <a:ext cx="3314700" cy="6248055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9" name="Organigramme : Processus 8"/>
          <p:cNvSpPr/>
          <p:nvPr/>
        </p:nvSpPr>
        <p:spPr>
          <a:xfrm rot="19468671">
            <a:off x="297544" y="1696606"/>
            <a:ext cx="514350" cy="36321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Organigramme : Processus 9"/>
          <p:cNvSpPr/>
          <p:nvPr/>
        </p:nvSpPr>
        <p:spPr>
          <a:xfrm rot="2103354" flipH="1">
            <a:off x="3752750" y="1665397"/>
            <a:ext cx="486918" cy="36321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8650" y="8534400"/>
            <a:ext cx="3314700" cy="1354667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143500" y="488248"/>
            <a:ext cx="1371600" cy="10402711"/>
          </a:xfrm>
        </p:spPr>
        <p:txBody>
          <a:bodyPr vert="eaVert"/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57250" y="488250"/>
            <a:ext cx="4171950" cy="1040271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eurs 6"/>
          <p:cNvSpPr/>
          <p:nvPr/>
        </p:nvSpPr>
        <p:spPr>
          <a:xfrm>
            <a:off x="-611945" y="-1450527"/>
            <a:ext cx="1229165" cy="291357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26613" y="37516"/>
            <a:ext cx="1276643" cy="302611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Bouée 10"/>
          <p:cNvSpPr/>
          <p:nvPr/>
        </p:nvSpPr>
        <p:spPr>
          <a:xfrm rot="2315675">
            <a:off x="137161" y="1875693"/>
            <a:ext cx="844288" cy="1960220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759655" y="-96"/>
            <a:ext cx="6098345" cy="12192096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1076706" y="488245"/>
            <a:ext cx="5623560" cy="2032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1076706" y="2573867"/>
            <a:ext cx="5623560" cy="85344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2686050" y="11209867"/>
            <a:ext cx="1600200" cy="846667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951781B8-CD94-4D92-8A79-3919B8F44E5C}" type="datetimeFigureOut">
              <a:rPr lang="fr-FR" smtClean="0"/>
              <a:pPr/>
              <a:t>11/11/2024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4286250" y="11209867"/>
            <a:ext cx="2171700" cy="846667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6460236" y="11209867"/>
            <a:ext cx="342900" cy="846667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27BFFB4-665C-4602-9E6E-77A4FDC9353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Rectangle 14"/>
          <p:cNvSpPr/>
          <p:nvPr/>
        </p:nvSpPr>
        <p:spPr bwMode="invGray">
          <a:xfrm>
            <a:off x="761238" y="-96"/>
            <a:ext cx="54864" cy="12192096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71ACF53-5A7E-EE45-6EA0-09F06FA4B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4" y="809625"/>
            <a:ext cx="6000017" cy="1011436"/>
          </a:xfrm>
        </p:spPr>
        <p:txBody>
          <a:bodyPr>
            <a:noAutofit/>
          </a:bodyPr>
          <a:lstStyle/>
          <a:p>
            <a:pPr algn="ctr"/>
            <a:r>
              <a:rPr lang="fr-FR" sz="1600" b="1" i="1" dirty="0" smtClean="0">
                <a:solidFill>
                  <a:schemeClr val="tx2">
                    <a:lumMod val="50000"/>
                  </a:schemeClr>
                </a:solidFill>
              </a:rPr>
              <a:t>Évaluation de la fréquence et les facteurs associés a l'hypertrophie ventriculaire gauche électrique chez les diabétiques type2 : a propos de 420 cas</a:t>
            </a:r>
            <a:r>
              <a:rPr lang="fr-FR" sz="1600" dirty="0" smtClean="0"/>
              <a:t/>
            </a:r>
            <a:br>
              <a:rPr lang="fr-FR" sz="1600" dirty="0" smtClean="0"/>
            </a:br>
            <a:r>
              <a:rPr lang="fr-FR" sz="1600" dirty="0">
                <a:highlight>
                  <a:srgbClr val="00FFFF"/>
                </a:highlight>
              </a:rPr>
              <a:t/>
            </a:r>
            <a:br>
              <a:rPr lang="fr-FR" sz="1600" dirty="0">
                <a:highlight>
                  <a:srgbClr val="00FFFF"/>
                </a:highlight>
              </a:rPr>
            </a:br>
            <a: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F. BOUZI, W. </a:t>
            </a:r>
            <a:r>
              <a:rPr lang="fr-FR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BENCHENAFI</a:t>
            </a:r>
            <a: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 , I. BAHARI </a:t>
            </a:r>
            <a:r>
              <a:rPr lang="fr-FR" sz="12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,BAROUDI.M,E</a:t>
            </a:r>
            <a: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. </a:t>
            </a:r>
            <a:r>
              <a:rPr lang="fr-FR" sz="1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TEBTI</a:t>
            </a:r>
            <a: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SimSun-ExtB" panose="02010609060101010101" pitchFamily="49" charset="-122"/>
                <a:cs typeface="Aldhabi" pitchFamily="2" charset="-78"/>
              </a:rPr>
              <a:t> , A. LOUNICI </a:t>
            </a:r>
            <a: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-ExtB" panose="02010609060101010101" pitchFamily="49" charset="-122"/>
                <a:ea typeface="SimSun-ExtB" panose="02010609060101010101" pitchFamily="49" charset="-122"/>
              </a:rPr>
              <a:t/>
            </a:r>
            <a:br>
              <a:rPr lang="fr-FR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-ExtB" panose="02010609060101010101" pitchFamily="49" charset="-122"/>
                <a:ea typeface="SimSun-ExtB" panose="02010609060101010101" pitchFamily="49" charset="-122"/>
              </a:rPr>
            </a:br>
            <a:r>
              <a:rPr lang="fr-FR" sz="1200" b="1" i="1" dirty="0">
                <a:solidFill>
                  <a:srgbClr val="0070C0"/>
                </a:solidFill>
                <a:effectLst/>
                <a:latin typeface="Avignon Pro" panose="02000503040000020004" pitchFamily="2" charset="0"/>
                <a:cs typeface="Simplified Arabic Fixed" panose="02070309020205020404" pitchFamily="49" charset="-78"/>
              </a:rPr>
              <a:t>CHU Tlemcen, Laboratoire de recherche sur le diabète faculté de médecine Tlemcen</a:t>
            </a:r>
            <a:endParaRPr lang="fr-FR" sz="1600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ignon Pro" panose="02000503040000020004" pitchFamily="2" charset="0"/>
              <a:ea typeface="SimSun-ExtB" panose="02010609060101010101" pitchFamily="49" charset="-122"/>
              <a:cs typeface="Simplified Arabic Fixed" panose="02070309020205020404" pitchFamily="49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C3BFD9E-9203-43D9-9EB2-3F9996297586}"/>
              </a:ext>
            </a:extLst>
          </p:cNvPr>
          <p:cNvSpPr txBox="1"/>
          <p:nvPr/>
        </p:nvSpPr>
        <p:spPr>
          <a:xfrm>
            <a:off x="0" y="3165872"/>
            <a:ext cx="685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i="1" dirty="0">
                <a:solidFill>
                  <a:schemeClr val="accent4"/>
                </a:solidFill>
                <a:latin typeface="Source Sans Pro" panose="020B0503030403020204" pitchFamily="34" charset="0"/>
              </a:rPr>
              <a:t>1/</a:t>
            </a:r>
            <a:r>
              <a:rPr lang="fr-FR" sz="1200" b="1" i="1" dirty="0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Introduction</a:t>
            </a:r>
            <a:r>
              <a:rPr lang="fr-FR" sz="1200" b="1" i="1" dirty="0" smtClean="0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:</a:t>
            </a:r>
          </a:p>
          <a:p>
            <a:pPr algn="ctr"/>
            <a:r>
              <a:rPr lang="fr-FR" sz="1200" b="1" dirty="0" smtClean="0"/>
              <a:t>Hypertrophie ventriculaire gauche est un facteur de risque reconnu dans la survenue d'événements cardiovasculaires majeur. le but de notre travail est d'évaluer la fréquence et les facteurs associés à hypertrophie ventriculaire gauche électrique chez les diabétiques.</a:t>
            </a:r>
          </a:p>
          <a:p>
            <a:pPr algn="ctr"/>
            <a:endParaRPr lang="fr-FR" sz="1200" b="1" i="1" dirty="0">
              <a:solidFill>
                <a:schemeClr val="accent4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585BDF1-C7CE-4444-8176-38D39C4C9084}"/>
              </a:ext>
            </a:extLst>
          </p:cNvPr>
          <p:cNvSpPr txBox="1"/>
          <p:nvPr/>
        </p:nvSpPr>
        <p:spPr>
          <a:xfrm>
            <a:off x="0" y="4019550"/>
            <a:ext cx="685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i="1" dirty="0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2/</a:t>
            </a:r>
            <a:r>
              <a:rPr lang="fr-FR" sz="1200" b="1" i="1" dirty="0" err="1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Materiels</a:t>
            </a:r>
            <a:r>
              <a:rPr lang="fr-FR" sz="1200" b="1" i="1" dirty="0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 et Méthodes</a:t>
            </a:r>
            <a:r>
              <a:rPr lang="fr-FR" sz="1200" b="1" i="1" dirty="0" smtClean="0">
                <a:solidFill>
                  <a:schemeClr val="accent4"/>
                </a:solidFill>
                <a:effectLst/>
                <a:latin typeface="Source Sans Pro" panose="020B0503030403020204" pitchFamily="34" charset="0"/>
              </a:rPr>
              <a:t>:</a:t>
            </a:r>
          </a:p>
          <a:p>
            <a:pPr algn="ctr"/>
            <a:r>
              <a:rPr lang="fr-FR" sz="1200" b="1" dirty="0" smtClean="0"/>
              <a:t>Etude transversale prospective incluant les patients adultes ayant un diabète type 2</a:t>
            </a:r>
          </a:p>
          <a:p>
            <a:pPr algn="ctr"/>
            <a:r>
              <a:rPr lang="fr-FR" sz="1200" b="1" dirty="0" smtClean="0"/>
              <a:t>HVG électrique est définie par les index suivants :</a:t>
            </a:r>
            <a:r>
              <a:rPr lang="fr-FR" sz="1200" b="1" dirty="0" err="1" smtClean="0"/>
              <a:t>Ravl</a:t>
            </a:r>
            <a:r>
              <a:rPr lang="fr-FR" sz="1200" b="1" dirty="0" smtClean="0"/>
              <a:t>&gt;10mm ou Cornel voltage (</a:t>
            </a:r>
            <a:r>
              <a:rPr lang="fr-FR" sz="1200" b="1" dirty="0" err="1" smtClean="0"/>
              <a:t>RaVL</a:t>
            </a:r>
            <a:r>
              <a:rPr lang="fr-FR" sz="1200" b="1" dirty="0" smtClean="0"/>
              <a:t> +SV3)&gt;20 mm chez la femme et 28 mm chez l'homme ou produits Cornel.QRS&gt;2440 mm.ms ou d'index de </a:t>
            </a:r>
            <a:r>
              <a:rPr lang="fr-FR" sz="1200" b="1" dirty="0" err="1" smtClean="0"/>
              <a:t>Sokolow</a:t>
            </a:r>
            <a:r>
              <a:rPr lang="fr-FR" sz="1200" b="1" dirty="0" smtClean="0"/>
              <a:t> (SV1+RV5 ou Rv6) &gt;a 38mm.</a:t>
            </a:r>
          </a:p>
          <a:p>
            <a:pPr algn="ctr"/>
            <a:endParaRPr lang="fr-FR" sz="1200" b="1" i="1" dirty="0">
              <a:solidFill>
                <a:schemeClr val="accent4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649B12E-A53B-4D01-8CC7-5C244E98A12B}"/>
              </a:ext>
            </a:extLst>
          </p:cNvPr>
          <p:cNvSpPr txBox="1"/>
          <p:nvPr/>
        </p:nvSpPr>
        <p:spPr>
          <a:xfrm>
            <a:off x="10633" y="6465213"/>
            <a:ext cx="68473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i="1" dirty="0">
                <a:solidFill>
                  <a:srgbClr val="00B0F0"/>
                </a:solidFill>
                <a:latin typeface="Source Sans Pro" panose="020B0503030403020204" pitchFamily="34" charset="0"/>
              </a:rPr>
              <a:t>3/</a:t>
            </a:r>
            <a:r>
              <a:rPr lang="fr-FR" sz="1200" b="1" i="1" dirty="0" err="1">
                <a:solidFill>
                  <a:srgbClr val="00B0F0"/>
                </a:solidFill>
                <a:latin typeface="Source Sans Pro" panose="020B0503030403020204" pitchFamily="34" charset="0"/>
              </a:rPr>
              <a:t>Resultats</a:t>
            </a:r>
            <a:r>
              <a:rPr lang="fr-FR" sz="1200" b="1" i="1" dirty="0" smtClean="0">
                <a:solidFill>
                  <a:srgbClr val="00B0F0"/>
                </a:solidFill>
                <a:latin typeface="Source Sans Pro" panose="020B0503030403020204" pitchFamily="34" charset="0"/>
              </a:rPr>
              <a:t>:</a:t>
            </a:r>
          </a:p>
          <a:p>
            <a:pPr algn="ctr"/>
            <a:r>
              <a:rPr lang="fr-FR" sz="1200" b="1" dirty="0" smtClean="0"/>
              <a:t>Nous avons colligé 420 patients dont 252 femmes et  188hommes  avec âge moyen de 50ans. </a:t>
            </a:r>
            <a:r>
              <a:rPr lang="fr-FR" sz="1200" b="1" dirty="0" smtClean="0"/>
              <a:t>les antidiabétique </a:t>
            </a:r>
            <a:r>
              <a:rPr lang="fr-FR" sz="1200" b="1" dirty="0" smtClean="0"/>
              <a:t>était la </a:t>
            </a:r>
            <a:r>
              <a:rPr lang="fr-FR" sz="1200" b="1" dirty="0" err="1" smtClean="0"/>
              <a:t>metformine</a:t>
            </a:r>
            <a:r>
              <a:rPr lang="fr-FR" sz="1200" b="1" dirty="0" smtClean="0"/>
              <a:t>.(80%) et insuline(24 %) et les sulfamides (  20%).  ,(..45%) avaient une dyslipidémie, et (20%) étaient sous statines</a:t>
            </a:r>
          </a:p>
          <a:p>
            <a:pPr algn="ctr"/>
            <a:r>
              <a:rPr lang="fr-FR" sz="1200" b="1" dirty="0" smtClean="0"/>
              <a:t>HVG est retrouvée chez 46 patients (14%), hypertension artérielle est retrouvée chez 45% des cas .  En analyse uni-variée. les facteurs associés à HVG sont le sexe Masculin et augmentation de Hba1c.</a:t>
            </a:r>
          </a:p>
          <a:p>
            <a:pPr algn="ctr"/>
            <a:endParaRPr lang="fr-FR" sz="1200" b="1" i="1" dirty="0">
              <a:solidFill>
                <a:srgbClr val="00B0F0"/>
              </a:solidFill>
              <a:latin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C03FC23-E223-45CE-8E5F-B31260D2226C}"/>
              </a:ext>
            </a:extLst>
          </p:cNvPr>
          <p:cNvSpPr txBox="1"/>
          <p:nvPr/>
        </p:nvSpPr>
        <p:spPr>
          <a:xfrm>
            <a:off x="0" y="10230192"/>
            <a:ext cx="685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i="1" u="sng" dirty="0" smtClean="0">
                <a:solidFill>
                  <a:srgbClr val="00B0F0"/>
                </a:solidFill>
                <a:effectLst/>
                <a:latin typeface="Source Sans Pro" panose="020B0503030403020204" pitchFamily="34" charset="0"/>
              </a:rPr>
              <a:t>Conclusion:</a:t>
            </a:r>
          </a:p>
          <a:p>
            <a:pPr algn="ctr"/>
            <a:r>
              <a:rPr lang="fr-FR" sz="1200" b="1" dirty="0" smtClean="0"/>
              <a:t>HVG électrique est relativement fréquente chez les diabétiques particulièrement de type 2. ces données mettant en évidence le rôle de ECG en </a:t>
            </a:r>
            <a:r>
              <a:rPr lang="fr-FR" sz="1200" b="1" dirty="0" err="1" smtClean="0"/>
              <a:t>tand</a:t>
            </a:r>
            <a:r>
              <a:rPr lang="fr-FR" sz="1200" b="1" dirty="0" smtClean="0"/>
              <a:t> qu'examen de première intention pour l'identification précoce des lésions </a:t>
            </a:r>
            <a:r>
              <a:rPr lang="fr-FR" sz="1200" b="1" dirty="0" err="1" smtClean="0"/>
              <a:t>subclinique</a:t>
            </a:r>
            <a:r>
              <a:rPr lang="fr-FR" sz="1200" b="1" dirty="0" smtClean="0"/>
              <a:t> d'organes chez les patients diabétiques.</a:t>
            </a:r>
          </a:p>
          <a:p>
            <a:pPr algn="ctr"/>
            <a:endParaRPr lang="fr-FR" sz="1200" b="1" i="1" u="sng" dirty="0">
              <a:solidFill>
                <a:srgbClr val="00B0F0"/>
              </a:solidFill>
              <a:effectLst/>
              <a:latin typeface="Source Sans Pro" panose="020B0503030403020204" pitchFamily="34" charset="0"/>
            </a:endParaRPr>
          </a:p>
        </p:txBody>
      </p:sp>
      <p:pic>
        <p:nvPicPr>
          <p:cNvPr id="13314" name="Picture 2" descr="Health Condition : Symptoms, Causes, Treatment and Mo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8225" y="1828799"/>
            <a:ext cx="5629275" cy="1285875"/>
          </a:xfrm>
          <a:prstGeom prst="rect">
            <a:avLst/>
          </a:prstGeom>
          <a:noFill/>
        </p:spPr>
      </p:pic>
      <p:pic>
        <p:nvPicPr>
          <p:cNvPr id="13316" name="Picture 4" descr="Cornell voltage criteria for LVH – All About Cardiovascular System and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162550"/>
            <a:ext cx="3429000" cy="1208088"/>
          </a:xfrm>
          <a:prstGeom prst="rect">
            <a:avLst/>
          </a:prstGeom>
          <a:noFill/>
        </p:spPr>
      </p:pic>
      <p:pic>
        <p:nvPicPr>
          <p:cNvPr id="13318" name="Picture 6" descr="Curso ECG: Pericarditis. Descartar taponamient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76625" y="5476875"/>
            <a:ext cx="3381375" cy="847725"/>
          </a:xfrm>
          <a:prstGeom prst="rect">
            <a:avLst/>
          </a:prstGeom>
          <a:noFill/>
        </p:spPr>
      </p:pic>
      <p:pic>
        <p:nvPicPr>
          <p:cNvPr id="13320" name="Picture 8" descr="Jardiance and Metformin: What You Need to Know - Flash Uganda Medi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7877174"/>
            <a:ext cx="3933825" cy="2190751"/>
          </a:xfrm>
          <a:prstGeom prst="rect">
            <a:avLst/>
          </a:prstGeom>
          <a:noFill/>
        </p:spPr>
      </p:pic>
      <p:pic>
        <p:nvPicPr>
          <p:cNvPr id="13322" name="Picture 10" descr="종합비타민 먹는시간? 효과적으로 먹는법 : 네이버 블로그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29050" y="7877176"/>
            <a:ext cx="3028950" cy="2190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55981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119</TotalTime>
  <Words>246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Solstice</vt:lpstr>
      <vt:lpstr>Évaluation de la fréquence et les facteurs associés a l'hypertrophie ventriculaire gauche électrique chez les diabétiques type2 : a propos de 420 cas  F. BOUZI, W. BENCHENAFI , I. BAHARI ,BAROUDI.M,E. TEBTI , A. LOUNICI  CHU Tlemcen, Laboratoire de recherche sur le diabète faculté de médecine Tlemcen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Ayoub Joob</dc:creator>
  <cp:lastModifiedBy>SMARTECH</cp:lastModifiedBy>
  <cp:revision>12</cp:revision>
  <dcterms:created xsi:type="dcterms:W3CDTF">2024-05-31T12:08:26Z</dcterms:created>
  <dcterms:modified xsi:type="dcterms:W3CDTF">2024-11-11T20:26:44Z</dcterms:modified>
</cp:coreProperties>
</file>